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  <p:sldId id="286" r:id="rId14"/>
    <p:sldId id="270" r:id="rId15"/>
    <p:sldId id="287" r:id="rId16"/>
    <p:sldId id="271" r:id="rId17"/>
    <p:sldId id="272" r:id="rId18"/>
    <p:sldId id="273" r:id="rId19"/>
    <p:sldId id="288" r:id="rId20"/>
    <p:sldId id="289" r:id="rId21"/>
    <p:sldId id="274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7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tema: buscar una secuencia corta de letras, el patrón, dentro del ADN humano, que tiene más de 5 millones de letras.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el problema antes de los algoritmos. En nuestro caso el texto es el ADN de Kaggle guardado en una lista enlazada, y el patrón es una secuencia corta de bases A, C, G y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forma más simple de buscar: es lo que haría una persona con el dedo. No necesita preparación ni memoria extra, pero cuando falla vuelve a empezar desde la siguiente 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Verde: la letra coincide. Rojo: la letra no coincide. Empezamos poniendo el patrón al principio del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ve el problema de la ingenua: vuelve a leer letras del texto que ya había revisado.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vez que falla, la ingenua solo avanza una 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todas las letras del patrón coinciden, se anota la posición donde empezó el patrón.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KMP lo publicaron Knuth, Morris y Pratt en 1977. La clave es que el texto nunca se devuelve: el puntero del texto solo avanza. Lo que se mueve es el patrón, gracias a la tabla.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se calcula solo con el patrón, antes de buscar. Es la memoria de KMP: cuando falla en la posición j, mira tabla[j − 1] y sabe cuántas letras ya leídas siguen sirviendo.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se arma comparando el patrón con una copia de sí mismo corrida. Racha: cuántas letras van iguales al comienzo.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coinciden, la racha crece en uno y ese número se anota en la tabla.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caso importante: al fallar no se empieza de cero a ciegas, se usa lo que ya está en la tabla para saber hasta dónde devolverse.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 rompe la racha y ya no queda nada que aprovechar.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Listo: con esta tabla KMP ya puede buscar en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Comparación 1 de 14: se compara texto[i] con patrón[j]. Si coinciden, suben los dos. Si falla con j &gt; 0, j baja con la tabla e i se queda. Si falla con j = 0, solo avanza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Comparación 2 de 14: se compara texto[i] con patrón[j]. Si coinciden, suben los dos. Si falla con j &gt; 0, j baja con la tabla e i se queda. Si falla con j = 0, solo avanza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Comparación 5 de 14: se compara texto[i] con patrón[j]. Si coinciden, suben los dos. Si falla con j &gt; 0, j baja con la tabla e i se queda. Si falla con j = 0, solo avanza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la posición 3 la A no coincide con la T. La tabla dice 0, así que no hay nada que aprovechar y se compara desde el comienzo del patrón. El patrón aparece en la posición 5. Complejidad: O(n + 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inventaron Karp y Rabin en 1987. Es como una huella: comparar dos números es una sola operación, mientras que comparar dos pedazos de texto son m operaciones. El programa usa base 256 (el código de cada letra) y saca el residuo entre 101 para que el número no crezca.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Naranja claro es la ventana. Usamos A = 1, C = 2, G = 3, T = 4 y base 10 para que los números se lean fácil.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volver a calcular todo el hash: solo se ajusta con la letra que sale y la que 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letras solo se revisan cuando los hash son iguales, por si fue una colisión.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= base^(m − 1) % primo es lo que vale la primera letra de la ventana, por eso se resta multiplicada por h. Promedio O(n + m); peor caso O(n · m) si hay muchas colisiones.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usamos estos algoritmos todos los días sin darnos cuenta: cada vez que buscamos algo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ciencia y seguridad los textos son enormes, por eso importa usar un algoritmo eficiente como KMP o Rabin-Karp en vez de la ingenua.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Rabin-Karp casi siempre resuelve con un solo número y solo revisa letras cuando el hash coincide. KMP nunca se devuelve en el texto, pero su ventaja crece cuando el patrón tiene partes repetidas.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principal: todos encuentran lo mismo, la diferencia está en las comparaciones. Mencionar dónde se usa en la vida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737360"/>
            <a:ext cx="1057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286000"/>
            <a:ext cx="105704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patrones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cadenas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67167" y="4495225"/>
            <a:ext cx="1057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Ingenua, KMP y Rabin–Karp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exacta de un patrón en un texto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103120"/>
            <a:ext cx="10570464" cy="1234440"/>
          </a:xfrm>
          <a:prstGeom prst="roundRect">
            <a:avLst>
              <a:gd name="adj" fmla="val 705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5" name="Text 3"/>
          <p:cNvSpPr txBox="1"/>
          <p:nvPr/>
        </p:nvSpPr>
        <p:spPr>
          <a:xfrm>
            <a:off x="1088136" y="2331720"/>
            <a:ext cx="10021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BFC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posición: 0 1 2 3 4 5 6 7 8 9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texto:    A T </a:t>
            </a:r>
            <a:r>
              <a:rPr lang="en-US" sz="18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C C</a:t>
            </a:r>
            <a:r>
              <a:rPr lang="en-US" sz="18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T </a:t>
            </a:r>
            <a:r>
              <a:rPr lang="en-US" sz="18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C C</a:t>
            </a:r>
            <a:endParaRPr lang="en-US" sz="1800" dirty="0"/>
          </a:p>
          <a:p>
            <a:pPr>
              <a:spcAft>
                <a:spcPts val="400"/>
              </a:spcAft>
            </a:pPr>
            <a:r>
              <a:rPr lang="en-US" sz="18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patrón: </a:t>
            </a:r>
            <a:r>
              <a:rPr lang="en-US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C </a:t>
            </a:r>
            <a:r>
              <a:rPr lang="en-US" dirty="0" err="1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aparece en 2 y en 7</a:t>
            </a:r>
            <a:br>
              <a:rPr lang="en-US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813816" y="3611880"/>
            <a:ext cx="10570464" cy="17184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 dirty="0">
                <a:solidFill>
                  <a:srgbClr val="C2611A"/>
                </a:solidFill>
                <a:latin typeface="Calibri"/>
              </a:rPr>
              <a:t>El </a:t>
            </a:r>
            <a:r>
              <a:rPr sz="2000" b="1" dirty="0" err="1">
                <a:solidFill>
                  <a:srgbClr val="C2611A"/>
                </a:solidFill>
                <a:latin typeface="Calibri"/>
              </a:rPr>
              <a:t>problema</a:t>
            </a:r>
            <a:r>
              <a:rPr sz="2000" b="1" dirty="0">
                <a:solidFill>
                  <a:srgbClr val="C2611A"/>
                </a:solidFill>
                <a:latin typeface="Calibri"/>
              </a:rPr>
              <a:t> es: 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encontrar </a:t>
            </a:r>
            <a:r>
              <a:rPr sz="2000" b="1" dirty="0" err="1">
                <a:solidFill>
                  <a:srgbClr val="14213D"/>
                </a:solidFill>
                <a:latin typeface="Calibri"/>
              </a:rPr>
              <a:t>todas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 las </a:t>
            </a:r>
            <a:r>
              <a:rPr sz="2000" b="1" dirty="0" err="1">
                <a:solidFill>
                  <a:srgbClr val="14213D"/>
                </a:solidFill>
                <a:latin typeface="Calibri"/>
              </a:rPr>
              <a:t>posiciones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 del </a:t>
            </a:r>
            <a:r>
              <a:rPr sz="2000" b="1" dirty="0" err="1">
                <a:solidFill>
                  <a:srgbClr val="14213D"/>
                </a:solidFill>
                <a:latin typeface="Calibri"/>
              </a:rPr>
              <a:t>texto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4213D"/>
                </a:solidFill>
                <a:latin typeface="Calibri"/>
              </a:rPr>
              <a:t>donde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4213D"/>
                </a:solidFill>
                <a:latin typeface="Calibri"/>
              </a:rPr>
              <a:t>aparece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 el </a:t>
            </a:r>
            <a:r>
              <a:rPr sz="2000" b="1" dirty="0" err="1">
                <a:solidFill>
                  <a:srgbClr val="14213D"/>
                </a:solidFill>
                <a:latin typeface="Calibri"/>
              </a:rPr>
              <a:t>patrón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4213D"/>
                </a:solidFill>
                <a:latin typeface="Calibri"/>
              </a:rPr>
              <a:t>exactamente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4213D"/>
                </a:solidFill>
                <a:latin typeface="Calibri"/>
              </a:rPr>
              <a:t>igual</a:t>
            </a:r>
            <a:r>
              <a:rPr sz="2000" b="1" dirty="0">
                <a:solidFill>
                  <a:srgbClr val="14213D"/>
                </a:solidFill>
                <a:latin typeface="Calibri"/>
              </a:rPr>
              <a:t>.</a:t>
            </a:r>
            <a:br>
              <a:rPr lang="es-CO" sz="2000" b="1" dirty="0">
                <a:solidFill>
                  <a:srgbClr val="14213D"/>
                </a:solidFill>
                <a:latin typeface="Calibri"/>
              </a:rPr>
            </a:br>
            <a:br>
              <a:rPr lang="es-CO" sz="2000" b="1" dirty="0">
                <a:solidFill>
                  <a:srgbClr val="14213D"/>
                </a:solidFill>
                <a:latin typeface="Calibri"/>
              </a:rPr>
            </a:br>
            <a:r>
              <a:rPr lang="es-CO" sz="2000" dirty="0">
                <a:solidFill>
                  <a:srgbClr val="14213D"/>
                </a:solidFill>
                <a:latin typeface="Calibri"/>
              </a:rPr>
              <a:t>Es decir, en este caso se busca una cadena de ADN de 8 letras </a:t>
            </a:r>
            <a:r>
              <a:rPr lang="es-CO" sz="2000" dirty="0">
                <a:solidFill>
                  <a:schemeClr val="accent6">
                    <a:lumMod val="75000"/>
                  </a:schemeClr>
                </a:solidFill>
              </a:rPr>
              <a:t>GTTTGTGA </a:t>
            </a:r>
            <a:r>
              <a:rPr lang="es-CO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un documento de 5 millones de letras seria una búsqueda tradicional de más de 44 millones de comparaciones</a:t>
            </a:r>
          </a:p>
          <a:p>
            <a:pPr>
              <a:spcAft>
                <a:spcPts val="1400"/>
              </a:spcAft>
            </a:pPr>
            <a:r>
              <a:rPr lang="es-CO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En cambio con los 3 algoritmos de búsqueda ingenua, KMP y Rabin–Karp serían: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499513"/>
              </p:ext>
            </p:extLst>
          </p:nvPr>
        </p:nvGraphicFramePr>
        <p:xfrm>
          <a:off x="813816" y="5394960"/>
          <a:ext cx="10570464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5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Algoritmo</a:t>
                      </a:r>
                    </a:p>
                  </a:txBody>
                  <a:tcPr marL="109728" marT="18288" marB="18288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Comparaciones</a:t>
                      </a:r>
                    </a:p>
                  </a:txBody>
                  <a:tcPr marL="109728" marT="18288" marB="18288" anchor="ctr">
                    <a:solidFill>
                      <a:srgbClr val="E7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Búsqueda ingenua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5568"/>
                          </a:solidFill>
                          <a:latin typeface="Calibri"/>
                        </a:rPr>
                        <a:t>7.319.438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KMP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5568"/>
                          </a:solidFill>
                          <a:latin typeface="Calibri"/>
                        </a:rPr>
                        <a:t>6.987.056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Rabin–Karp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9822B"/>
                          </a:solidFill>
                          <a:latin typeface="Calibri"/>
                        </a:rPr>
                        <a:t>73.928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1 · BÚSQUEDA INGENUA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patrón en cada posición del texto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194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largo del </a:t>
            </a:r>
            <a:r>
              <a:rPr lang="en-US" sz="16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largo del patrón. </a:t>
            </a:r>
            <a:b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pone el patrón en la posición i del texto.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letra por letra: texto[i + j] con patrón[j].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todas coinciden, lo encontró. Si una falla, corre el patrón una posición: i = i + 1.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63640" y="21945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6537960" y="24231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desde 0 hasta n − m: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 = 0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mientras j &lt; m 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texto[i + j] == patrón[j]: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 = j + 1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 j == m: encontrado en i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1 · BÚSQUEDA INGENUA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ACGT en ACGACGT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41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0138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6501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55117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255117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20954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320954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86791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38679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2551176" y="35387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C2611A"/>
                </a:solidFill>
                <a:latin typeface="Calibri"/>
              </a:rPr>
              <a:t>movimiento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7720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1 · BÚSQUEDA INGENUA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ACGT </a:t>
            </a: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ACGACGT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41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0138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6501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0954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320954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86791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38679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18464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51846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3209544" y="35387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C2611A"/>
                </a:solidFill>
                <a:latin typeface="Calibri"/>
              </a:rPr>
              <a:t>movimiento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1 · BÚSQUEDA INGENUA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ACGT en ACGACGT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0138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6501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6791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38679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18464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51846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84301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584301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3867912" y="35387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C2611A"/>
                </a:solidFill>
                <a:latin typeface="Calibri"/>
              </a:rPr>
              <a:t>movimiento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1 · BÚSQUEDA INGENUA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ACGT en ACGACGT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0138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6501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18464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51846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84301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584301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50138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650138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810768" y="3886200"/>
            <a:ext cx="10570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letras </a:t>
            </a:r>
            <a:r>
              <a:rPr lang="en-US" sz="1800" b="1" dirty="0" err="1">
                <a:solidFill>
                  <a:srgbClr val="2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 total fueron 4 + 1 + 1 + 4 = </a:t>
            </a: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r>
              <a:rPr lang="en-US" sz="1800" b="1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spcAft>
                <a:spcPts val="600"/>
              </a:spcAft>
            </a:pPr>
            <a:endParaRPr lang="en-US" sz="28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</a:t>
            </a:r>
            <a:r>
              <a:rPr lang="en-US" sz="28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· m)</a:t>
            </a: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 </a:t>
            </a:r>
            <a:r>
              <a:rPr lang="en-US" sz="28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n </a:t>
            </a:r>
            <a:r>
              <a:rPr lang="en-US" sz="28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</a:t>
            </a: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hasta m </a:t>
            </a:r>
            <a:r>
              <a:rPr lang="en-US" sz="28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</a:t>
            </a:r>
            <a:r>
              <a:rPr lang="en-US" sz="2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</p:txBody>
      </p:sp>
      <p:sp>
        <p:nvSpPr>
          <p:cNvPr id="40" name="TextBox 39"/>
          <p:cNvSpPr txBox="1"/>
          <p:nvPr/>
        </p:nvSpPr>
        <p:spPr>
          <a:xfrm>
            <a:off x="4526280" y="35387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C2611A"/>
                </a:solidFill>
                <a:latin typeface="Calibri"/>
              </a:rPr>
              <a:t>movimiento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2 · KNUTH–MORRIS–PRATT (KMP)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371600"/>
            <a:ext cx="10570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</a:t>
            </a:r>
            <a:r>
              <a:rPr lang="en-US" sz="4400" b="1" dirty="0" err="1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</a:t>
            </a:r>
            <a:r>
              <a:rPr lang="en-US" sz="44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leer la </a:t>
            </a:r>
            <a:r>
              <a:rPr lang="en-US" sz="4400" b="1" dirty="0" err="1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</a:t>
            </a:r>
            <a:r>
              <a:rPr lang="en-US" sz="44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b="1" dirty="0" err="1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44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b="1" dirty="0" err="1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44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4400" b="1" dirty="0" err="1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1. </a:t>
            </a:r>
            <a:r>
              <a:rPr lang="en-US" sz="18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tabla de prefijos con el patrón.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2. </a:t>
            </a:r>
            <a:r>
              <a:rPr lang="en-US" sz="18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el texto una sola vez, usando la tabla cuando falla.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TABLA DE PREFIJOS (FUNCIÓN DE FRACASO)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guarda la tabla de prefijos?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9202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posición: </a:t>
            </a: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letras del comienzo del patrón se repiten justo al final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 que va hasta ahí.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231763"/>
              </p:ext>
            </p:extLst>
          </p:nvPr>
        </p:nvGraphicFramePr>
        <p:xfrm>
          <a:off x="813816" y="2926080"/>
          <a:ext cx="10570464" cy="1645920"/>
        </p:xfrm>
        <a:graphic>
          <a:graphicData uri="http://schemas.openxmlformats.org/drawingml/2006/table">
            <a:tbl>
              <a:tblPr/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posición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4A55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patrón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highlight>
                            <a:srgbClr val="00FF00"/>
                          </a:highlight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800" dirty="0">
                        <a:highlight>
                          <a:srgbClr val="00FF00"/>
                        </a:highlight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Tabla</a:t>
                      </a: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de Racha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5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TABLA DE PREFIJOS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construye la tabla de TATTCC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highlight>
                  <a:srgbClr val="00FF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>
              <a:highlight>
                <a:srgbClr val="00FF00"/>
              </a:highlight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b="1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954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 txBox="1"/>
          <p:nvPr/>
        </p:nvSpPr>
        <p:spPr>
          <a:xfrm>
            <a:off x="320954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86791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38679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18464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51846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84301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584301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50138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 txBox="1"/>
          <p:nvPr/>
        </p:nvSpPr>
        <p:spPr>
          <a:xfrm>
            <a:off x="650138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" y="3703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55117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 txBox="1"/>
          <p:nvPr/>
        </p:nvSpPr>
        <p:spPr>
          <a:xfrm>
            <a:off x="255117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highlight>
                  <a:srgbClr val="00FF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>
              <a:highlight>
                <a:srgbClr val="00FF00"/>
              </a:highlight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209544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65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 txBox="1"/>
          <p:nvPr/>
        </p:nvSpPr>
        <p:spPr>
          <a:xfrm>
            <a:off x="3209544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3867912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 txBox="1"/>
          <p:nvPr/>
        </p:nvSpPr>
        <p:spPr>
          <a:xfrm>
            <a:off x="3867912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4526280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 txBox="1"/>
          <p:nvPr/>
        </p:nvSpPr>
        <p:spPr>
          <a:xfrm>
            <a:off x="45262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184648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 txBox="1"/>
          <p:nvPr/>
        </p:nvSpPr>
        <p:spPr>
          <a:xfrm>
            <a:off x="5184648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84301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 txBox="1"/>
          <p:nvPr/>
        </p:nvSpPr>
        <p:spPr>
          <a:xfrm>
            <a:off x="584301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" y="4663440"/>
            <a:ext cx="10570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3200" b="1" dirty="0">
                <a:solidFill>
                  <a:srgbClr val="4A5568"/>
                </a:solidFill>
                <a:latin typeface="Calibri"/>
              </a:rPr>
              <a:t>Racha</a:t>
            </a:r>
            <a:r>
              <a:rPr lang="es-CO" sz="3200" b="1" dirty="0">
                <a:solidFill>
                  <a:srgbClr val="4A5568"/>
                </a:solidFill>
                <a:latin typeface="Calibri"/>
              </a:rPr>
              <a:t>=</a:t>
            </a:r>
            <a:r>
              <a:rPr sz="3200" b="1" dirty="0">
                <a:solidFill>
                  <a:srgbClr val="4A5568"/>
                </a:solidFill>
                <a:latin typeface="Calibri"/>
              </a:rPr>
              <a:t>0</a:t>
            </a:r>
            <a:r>
              <a:rPr sz="1800" b="0" dirty="0">
                <a:solidFill>
                  <a:srgbClr val="4A5568"/>
                </a:solidFill>
                <a:latin typeface="Calibri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TABLA DE PREFIJOS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prefijos de TATTCC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b="1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6791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 txBox="1"/>
          <p:nvPr/>
        </p:nvSpPr>
        <p:spPr>
          <a:xfrm>
            <a:off x="38679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18464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51846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84301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584301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50138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650138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15975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 txBox="1"/>
          <p:nvPr/>
        </p:nvSpPr>
        <p:spPr>
          <a:xfrm>
            <a:off x="715975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" y="3703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55117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 txBox="1"/>
          <p:nvPr/>
        </p:nvSpPr>
        <p:spPr>
          <a:xfrm>
            <a:off x="255117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3209544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 txBox="1"/>
          <p:nvPr/>
        </p:nvSpPr>
        <p:spPr>
          <a:xfrm>
            <a:off x="3209544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3867912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65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 txBox="1"/>
          <p:nvPr/>
        </p:nvSpPr>
        <p:spPr>
          <a:xfrm>
            <a:off x="3867912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4526280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 txBox="1"/>
          <p:nvPr/>
        </p:nvSpPr>
        <p:spPr>
          <a:xfrm>
            <a:off x="45262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184648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 txBox="1"/>
          <p:nvPr/>
        </p:nvSpPr>
        <p:spPr>
          <a:xfrm>
            <a:off x="5184648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84301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 txBox="1"/>
          <p:nvPr/>
        </p:nvSpPr>
        <p:spPr>
          <a:xfrm>
            <a:off x="584301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" y="4663440"/>
            <a:ext cx="10570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3200" b="1" dirty="0">
                <a:solidFill>
                  <a:srgbClr val="14213D"/>
                </a:solidFill>
                <a:latin typeface="Calibri"/>
              </a:rPr>
              <a:t>Racha = 1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TABLA DE PREFIJOS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prefijos de TATTCC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Racha=1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b="1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b="1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" y="4334774"/>
            <a:ext cx="10570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700" b="1" dirty="0">
                <a:solidFill>
                  <a:srgbClr val="14213D"/>
                </a:solidFill>
                <a:latin typeface="Calibri"/>
              </a:rPr>
              <a:t>Racha </a:t>
            </a:r>
            <a:r>
              <a:rPr lang="es-CO" sz="1700" b="1" dirty="0">
                <a:solidFill>
                  <a:srgbClr val="14213D"/>
                </a:solidFill>
                <a:latin typeface="Calibri"/>
              </a:rPr>
              <a:t>queda =</a:t>
            </a:r>
            <a:r>
              <a:rPr sz="1700" b="1" dirty="0">
                <a:solidFill>
                  <a:srgbClr val="14213D"/>
                </a:solidFill>
                <a:latin typeface="Calibri"/>
              </a:rPr>
              <a:t> </a:t>
            </a:r>
            <a:r>
              <a:rPr lang="es-CO" sz="1700" b="1" dirty="0">
                <a:solidFill>
                  <a:srgbClr val="14213D"/>
                </a:solidFill>
                <a:latin typeface="Calibri"/>
              </a:rPr>
              <a:t>0</a:t>
            </a:r>
            <a:r>
              <a:rPr sz="1700" b="0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" y="214884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551176" y="214884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9544" y="214884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67912" y="2148840"/>
            <a:ext cx="548640" cy="54864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6280" y="2148840"/>
            <a:ext cx="548640" cy="548640"/>
          </a:xfrm>
          <a:prstGeom prst="roundRect">
            <a:avLst/>
          </a:prstGeom>
          <a:solidFill>
            <a:srgbClr val="FCE3C6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84648" y="214884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43016" y="214884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" y="2863185"/>
            <a:ext cx="169164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dirty="0" err="1">
                <a:solidFill>
                  <a:srgbClr val="4A5568"/>
                </a:solidFill>
                <a:latin typeface="Calibri"/>
              </a:rPr>
              <a:t>copia</a:t>
            </a:r>
            <a:endParaRPr sz="1500" b="1" dirty="0">
              <a:solidFill>
                <a:srgbClr val="4A5568"/>
              </a:solidFill>
              <a:latin typeface="Calibri"/>
            </a:endParaRPr>
          </a:p>
          <a:p>
            <a:endParaRPr sz="1100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3867912" y="2788920"/>
            <a:ext cx="548640" cy="54864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26280" y="2788920"/>
            <a:ext cx="548640" cy="548640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184648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43016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01384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59752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3816" y="34290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551176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09544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67912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26280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_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184648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_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843016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TABLA DE PREFIJOS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prefijos de TATTCC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b="1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95807" y="4343400"/>
            <a:ext cx="10570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Racha=1</a:t>
            </a:r>
            <a:endParaRPr sz="2400" b="1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3816" y="214884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551176" y="214884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9544" y="214884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67912" y="2148840"/>
            <a:ext cx="548640" cy="54864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6280" y="2148840"/>
            <a:ext cx="548640" cy="548640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84648" y="214884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43016" y="214884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" y="278892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4A5568"/>
                </a:solidFill>
                <a:latin typeface="Calibri"/>
              </a:rPr>
              <a:t>copia</a:t>
            </a:r>
          </a:p>
          <a:p>
            <a:r>
              <a:rPr sz="1100">
                <a:solidFill>
                  <a:srgbClr val="4A5568"/>
                </a:solidFill>
                <a:latin typeface="Calibri"/>
              </a:rPr>
              <a:t>corrida un espacio, a la 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26280" y="2788920"/>
            <a:ext cx="548640" cy="548640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184648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43016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01384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59752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18120" y="278892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3816" y="34290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551176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09544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67912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26280" y="3429000"/>
            <a:ext cx="548640" cy="548640"/>
          </a:xfrm>
          <a:prstGeom prst="roundRect">
            <a:avLst/>
          </a:prstGeom>
          <a:solidFill>
            <a:srgbClr val="F2A65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184648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_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843016" y="3429000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213D"/>
                </a:solidFill>
                <a:latin typeface="Courier New"/>
              </a:rPr>
              <a:t>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TABLA DE PREFIJOS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prefijos de TATTCC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Racha=1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641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b="1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18464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51846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84301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584301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0138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650138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15975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715975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81812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 txBox="1"/>
          <p:nvPr/>
        </p:nvSpPr>
        <p:spPr>
          <a:xfrm>
            <a:off x="781812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" y="3703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55117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 txBox="1"/>
          <p:nvPr/>
        </p:nvSpPr>
        <p:spPr>
          <a:xfrm>
            <a:off x="255117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3209544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 txBox="1"/>
          <p:nvPr/>
        </p:nvSpPr>
        <p:spPr>
          <a:xfrm>
            <a:off x="3209544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3867912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 txBox="1"/>
          <p:nvPr/>
        </p:nvSpPr>
        <p:spPr>
          <a:xfrm>
            <a:off x="3867912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4526280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 txBox="1"/>
          <p:nvPr/>
        </p:nvSpPr>
        <p:spPr>
          <a:xfrm>
            <a:off x="45262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184648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 txBox="1"/>
          <p:nvPr/>
        </p:nvSpPr>
        <p:spPr>
          <a:xfrm>
            <a:off x="5184648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84301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 txBox="1"/>
          <p:nvPr/>
        </p:nvSpPr>
        <p:spPr>
          <a:xfrm>
            <a:off x="584301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" y="4663440"/>
            <a:ext cx="10570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CO" sz="3200" b="1" dirty="0">
                <a:solidFill>
                  <a:srgbClr val="4A5568"/>
                </a:solidFill>
                <a:latin typeface="Calibri"/>
              </a:rPr>
              <a:t>Racha=0</a:t>
            </a:r>
            <a:endParaRPr sz="3200" b="1" dirty="0">
              <a:solidFill>
                <a:srgbClr val="4A55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TABLA DE PREFIJOS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prefijos de TATTCC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Racha=0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641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b="1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8464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 txBox="1"/>
          <p:nvPr/>
        </p:nvSpPr>
        <p:spPr>
          <a:xfrm>
            <a:off x="51846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84301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584301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50138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650138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15975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715975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81812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781812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47648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 txBox="1"/>
          <p:nvPr/>
        </p:nvSpPr>
        <p:spPr>
          <a:xfrm>
            <a:off x="847648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" y="3703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55117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 txBox="1"/>
          <p:nvPr/>
        </p:nvSpPr>
        <p:spPr>
          <a:xfrm>
            <a:off x="255117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3209544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 txBox="1"/>
          <p:nvPr/>
        </p:nvSpPr>
        <p:spPr>
          <a:xfrm>
            <a:off x="3209544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3867912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 txBox="1"/>
          <p:nvPr/>
        </p:nvSpPr>
        <p:spPr>
          <a:xfrm>
            <a:off x="3867912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4526280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 txBox="1"/>
          <p:nvPr/>
        </p:nvSpPr>
        <p:spPr>
          <a:xfrm>
            <a:off x="45262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184648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65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 txBox="1"/>
          <p:nvPr/>
        </p:nvSpPr>
        <p:spPr>
          <a:xfrm>
            <a:off x="5184648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84301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 txBox="1"/>
          <p:nvPr/>
        </p:nvSpPr>
        <p:spPr>
          <a:xfrm>
            <a:off x="584301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" y="4663440"/>
            <a:ext cx="10570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CO" sz="3200" b="1" dirty="0">
                <a:solidFill>
                  <a:srgbClr val="4A5568"/>
                </a:solidFill>
                <a:latin typeface="Calibri"/>
              </a:rPr>
              <a:t>Racha=0</a:t>
            </a:r>
            <a:endParaRPr sz="3200" b="1" dirty="0">
              <a:solidFill>
                <a:srgbClr val="4A55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TABLA DE PREFIJOS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prefijos de TATTCC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41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b="1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4301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7A7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 txBox="1"/>
          <p:nvPr/>
        </p:nvSpPr>
        <p:spPr>
          <a:xfrm>
            <a:off x="584301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0138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650138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15975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715975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81812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781812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47648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847648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13485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 txBox="1"/>
          <p:nvPr/>
        </p:nvSpPr>
        <p:spPr>
          <a:xfrm>
            <a:off x="913485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" y="3703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55117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 txBox="1"/>
          <p:nvPr/>
        </p:nvSpPr>
        <p:spPr>
          <a:xfrm>
            <a:off x="255117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3209544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 txBox="1"/>
          <p:nvPr/>
        </p:nvSpPr>
        <p:spPr>
          <a:xfrm>
            <a:off x="3209544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3867912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 txBox="1"/>
          <p:nvPr/>
        </p:nvSpPr>
        <p:spPr>
          <a:xfrm>
            <a:off x="3867912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4526280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 txBox="1"/>
          <p:nvPr/>
        </p:nvSpPr>
        <p:spPr>
          <a:xfrm>
            <a:off x="45262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184648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 txBox="1"/>
          <p:nvPr/>
        </p:nvSpPr>
        <p:spPr>
          <a:xfrm>
            <a:off x="5184648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843016" y="3703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65A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 txBox="1"/>
          <p:nvPr/>
        </p:nvSpPr>
        <p:spPr>
          <a:xfrm>
            <a:off x="5843016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" y="4663440"/>
            <a:ext cx="10570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51176" y="292608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5117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9544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954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67912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791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26280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8464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464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793C7DA-45D7-C04D-F195-9185268BFBC7}"/>
              </a:ext>
            </a:extLst>
          </p:cNvPr>
          <p:cNvSpPr txBox="1"/>
          <p:nvPr/>
        </p:nvSpPr>
        <p:spPr>
          <a:xfrm>
            <a:off x="672860" y="472745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Racha=0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9544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954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67912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791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8464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" y="4572000"/>
            <a:ext cx="10570464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3200" b="1" dirty="0">
                <a:solidFill>
                  <a:srgbClr val="4A5568"/>
                </a:solidFill>
                <a:latin typeface="Calibri"/>
              </a:rPr>
              <a:t>Racha=1</a:t>
            </a:r>
            <a:endParaRPr sz="3200" b="1" dirty="0">
              <a:solidFill>
                <a:srgbClr val="4A55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chemeClr val="accent6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9544" y="2926080"/>
            <a:ext cx="566928" cy="566928"/>
          </a:xfrm>
          <a:prstGeom prst="roundRect">
            <a:avLst/>
          </a:prstGeom>
          <a:solidFill>
            <a:schemeClr val="accent6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954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67912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791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8464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Racha=2</a:t>
            </a:r>
            <a:endParaRPr sz="2400" b="1" dirty="0">
              <a:solidFill>
                <a:srgbClr val="4A55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9544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954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67912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791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292608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8464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Racha=0</a:t>
            </a:r>
            <a:endParaRPr sz="2400" b="1" dirty="0">
              <a:solidFill>
                <a:srgbClr val="4A55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292608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8464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59752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975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Racha=0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4648" y="292608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59752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7648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648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8" name="TextBox 55">
            <a:extLst>
              <a:ext uri="{FF2B5EF4-FFF2-40B4-BE49-F238E27FC236}">
                <a16:creationId xmlns:a16="http://schemas.microsoft.com/office/drawing/2014/main" id="{FFAE87FA-632E-23CD-A473-7FC6DB7C5B1C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Racha=0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59752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7648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855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5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8" name="TextBox 55">
            <a:extLst>
              <a:ext uri="{FF2B5EF4-FFF2-40B4-BE49-F238E27FC236}">
                <a16:creationId xmlns:a16="http://schemas.microsoft.com/office/drawing/2014/main" id="{3BEB4C52-74F6-7BAF-0BA9-250DD04A70AC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Racha=1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59752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7648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855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5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8" name="TextBox 55">
            <a:extLst>
              <a:ext uri="{FF2B5EF4-FFF2-40B4-BE49-F238E27FC236}">
                <a16:creationId xmlns:a16="http://schemas.microsoft.com/office/drawing/2014/main" id="{47CC4453-EAF9-D4F8-1814-0C3D6466E899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Racha=2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59752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7648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855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5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8" name="TextBox 55">
            <a:extLst>
              <a:ext uri="{FF2B5EF4-FFF2-40B4-BE49-F238E27FC236}">
                <a16:creationId xmlns:a16="http://schemas.microsoft.com/office/drawing/2014/main" id="{80EA90D4-5469-FA76-7B15-A90A963D28FB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Racha=3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59752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76488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855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5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8" name="TextBox 55">
            <a:extLst>
              <a:ext uri="{FF2B5EF4-FFF2-40B4-BE49-F238E27FC236}">
                <a16:creationId xmlns:a16="http://schemas.microsoft.com/office/drawing/2014/main" id="{253FD4F1-D57F-4D76-6A83-00B4A5D4133B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Racha=4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59752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76488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855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5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8" name="TextBox 55">
            <a:extLst>
              <a:ext uri="{FF2B5EF4-FFF2-40B4-BE49-F238E27FC236}">
                <a16:creationId xmlns:a16="http://schemas.microsoft.com/office/drawing/2014/main" id="{FAD8D8A0-85E9-E4F9-A2AF-5AE57028DDD7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Racha=5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43016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1384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59752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76488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855" y="2926080"/>
            <a:ext cx="566928" cy="566928"/>
          </a:xfrm>
          <a:prstGeom prst="roundRect">
            <a:avLst/>
          </a:prstGeom>
          <a:solidFill>
            <a:srgbClr val="7BD88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5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60" name="TextBox 55">
            <a:extLst>
              <a:ext uri="{FF2B5EF4-FFF2-40B4-BE49-F238E27FC236}">
                <a16:creationId xmlns:a16="http://schemas.microsoft.com/office/drawing/2014/main" id="{94F9B901-D85A-4737-3520-A2F270CDE0A3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Racha=6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3224" y="292608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51592" y="292608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159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50" name="TextBox 55">
            <a:extLst>
              <a:ext uri="{FF2B5EF4-FFF2-40B4-BE49-F238E27FC236}">
                <a16:creationId xmlns:a16="http://schemas.microsoft.com/office/drawing/2014/main" id="{22205607-71A9-BCB9-25BF-42BCE7385CFB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Racha=0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TATTCC en CTAAATATTCCAA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856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5FB3"/>
                </a:solidFill>
                <a:latin typeface="Calibri"/>
              </a:rPr>
              <a:t>i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54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64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1592" y="1856231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954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464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3016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5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214884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214884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patrón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51592" y="2926080"/>
            <a:ext cx="566928" cy="566928"/>
          </a:xfrm>
          <a:prstGeom prst="roundRect">
            <a:avLst/>
          </a:prstGeom>
          <a:solidFill>
            <a:srgbClr val="FF7A7A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1592" y="35021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2611A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379476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4A5568"/>
                </a:solidFill>
                <a:latin typeface="Calibri"/>
              </a:rPr>
              <a:t>tabla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5117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9544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67912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26280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84648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43016" y="3794760"/>
            <a:ext cx="56692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C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213D"/>
                </a:solidFill>
                <a:latin typeface="Courier New"/>
              </a:rPr>
              <a:t>0</a:t>
            </a:r>
          </a:p>
        </p:txBody>
      </p:sp>
      <p:sp>
        <p:nvSpPr>
          <p:cNvPr id="48" name="TextBox 55">
            <a:extLst>
              <a:ext uri="{FF2B5EF4-FFF2-40B4-BE49-F238E27FC236}">
                <a16:creationId xmlns:a16="http://schemas.microsoft.com/office/drawing/2014/main" id="{503FE7E8-97CA-7E78-1A99-DB8D5EE565EE}"/>
              </a:ext>
            </a:extLst>
          </p:cNvPr>
          <p:cNvSpPr txBox="1"/>
          <p:nvPr/>
        </p:nvSpPr>
        <p:spPr>
          <a:xfrm>
            <a:off x="813816" y="4572000"/>
            <a:ext cx="105704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2400" b="1" dirty="0">
                <a:solidFill>
                  <a:srgbClr val="4A5568"/>
                </a:solidFill>
                <a:latin typeface="Calibri"/>
              </a:rPr>
              <a:t>Racha=0</a:t>
            </a:r>
            <a:r>
              <a:rPr sz="2400" b="1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LA BÚSQUEDA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buscar TATTCC en CTAAATATTCCAA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19456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" y="242316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600">
                <a:solidFill>
                  <a:srgbClr val="BFC8DA"/>
                </a:solidFill>
                <a:latin typeface="Courier New"/>
              </a:rPr>
              <a:t>tabla:  0 0 1 1 0 0</a:t>
            </a:r>
            <a:endParaRPr lang="en-US" sz="1600" dirty="0"/>
          </a:p>
          <a:p>
            <a:r>
              <a:rPr sz="1600">
                <a:solidFill>
                  <a:srgbClr val="F7F6F1"/>
                </a:solidFill>
                <a:latin typeface="Courier New"/>
              </a:rPr>
              <a:t>texto:  C T A </a:t>
            </a:r>
            <a:r>
              <a:rPr sz="1600">
                <a:solidFill>
                  <a:srgbClr val="FF7A7A"/>
                </a:solidFill>
                <a:latin typeface="Courier New"/>
              </a:rPr>
              <a:t>A</a:t>
            </a:r>
            <a:r>
              <a:rPr sz="1600">
                <a:solidFill>
                  <a:srgbClr val="F7F6F1"/>
                </a:solidFill>
                <a:latin typeface="Courier New"/>
              </a:rPr>
              <a:t> A T A T T C C A A</a:t>
            </a:r>
          </a:p>
          <a:p>
            <a:r>
              <a:rPr sz="1600">
                <a:solidFill>
                  <a:srgbClr val="F7F6F1"/>
                </a:solidFill>
                <a:latin typeface="Courier New"/>
              </a:rPr>
              <a:t>patrón:   </a:t>
            </a:r>
            <a:r>
              <a:rPr sz="1600">
                <a:solidFill>
                  <a:srgbClr val="7BD88F"/>
                </a:solidFill>
                <a:latin typeface="Courier New"/>
              </a:rPr>
              <a:t>T A</a:t>
            </a:r>
            <a:r>
              <a:rPr sz="1600">
                <a:solidFill>
                  <a:srgbClr val="F7F6F1"/>
                </a:solidFill>
                <a:latin typeface="Courier New"/>
              </a:rPr>
              <a:t> </a:t>
            </a:r>
            <a:r>
              <a:rPr sz="1600">
                <a:solidFill>
                  <a:srgbClr val="FF7A7A"/>
                </a:solidFill>
                <a:latin typeface="Courier New"/>
              </a:rPr>
              <a:t>T</a:t>
            </a:r>
            <a:r>
              <a:rPr sz="1600">
                <a:solidFill>
                  <a:srgbClr val="F7F6F1"/>
                </a:solidFill>
                <a:latin typeface="Courier New"/>
              </a:rPr>
              <a:t> T C C</a:t>
            </a:r>
          </a:p>
          <a:p>
            <a:r>
              <a:rPr sz="1600">
                <a:solidFill>
                  <a:srgbClr val="BFC8DA"/>
                </a:solidFill>
                <a:latin typeface="Courier New"/>
              </a:rPr>
              <a:t>falla: j = tabla[1] = 0</a:t>
            </a:r>
          </a:p>
          <a:p>
            <a:r>
              <a:rPr sz="1600">
                <a:solidFill>
                  <a:srgbClr val="F7F6F1"/>
                </a:solidFill>
                <a:latin typeface="Courier New"/>
              </a:rPr>
              <a:t>patrón:           </a:t>
            </a:r>
            <a:r>
              <a:rPr sz="1600">
                <a:solidFill>
                  <a:srgbClr val="7BD88F"/>
                </a:solidFill>
                <a:latin typeface="Courier New"/>
              </a:rPr>
              <a:t>T A T T C C</a:t>
            </a:r>
          </a:p>
          <a:p>
            <a:r>
              <a:rPr sz="1600">
                <a:solidFill>
                  <a:srgbClr val="F2A65A"/>
                </a:solidFill>
                <a:latin typeface="Courier New"/>
              </a:rPr>
              <a:t>¡encontrado en la posición 5!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711696" y="219456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Coinciden: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j + 1.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Fallan: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tabla[j − 1]; el texto no retrocede.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m: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 en i − m + 1.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KMP: </a:t>
            </a: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comparaciones. Ingenua: </a:t>
            </a: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r>
              <a:rPr sz="1600" b="1" dirty="0">
                <a:solidFill>
                  <a:srgbClr val="2F5FB3"/>
                </a:solidFill>
                <a:latin typeface="Calibri"/>
              </a:rPr>
              <a:t>i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posición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 el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texto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.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Siempre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avanza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nunca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 retrocede.</a:t>
            </a:r>
          </a:p>
          <a:p>
            <a:r>
              <a:rPr sz="1600" b="1" dirty="0">
                <a:solidFill>
                  <a:srgbClr val="C2611A"/>
                </a:solidFill>
                <a:latin typeface="Calibri"/>
              </a:rPr>
              <a:t>j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cuántas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letras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 del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patrón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 van </a:t>
            </a:r>
            <a:r>
              <a:rPr sz="1600" b="0" dirty="0" err="1">
                <a:solidFill>
                  <a:srgbClr val="4A5568"/>
                </a:solidFill>
                <a:latin typeface="Calibri"/>
              </a:rPr>
              <a:t>iguales</a:t>
            </a:r>
            <a:r>
              <a:rPr sz="1600" b="0" dirty="0">
                <a:solidFill>
                  <a:srgbClr val="4A55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3 · RABIN–KARP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cada pedazo de texto en un número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1945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el pedazo del texto del mismo largo que el patrón. A ella y al patrón se les calcula un </a:t>
            </a: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 número que los representa.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diferente: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no es el patrón; se corre la ventana.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igual: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probablemente sí; se confirma letra por letra.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219456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6629400" y="24231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FC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  C = 2  G = 3  T = 4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FC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10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ACG = 1·100 + 2·10 + 3 = </a:t>
            </a:r>
            <a:r>
              <a:rPr lang="en-US" sz="16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CGT = </a:t>
            </a:r>
            <a:r>
              <a:rPr lang="en-US" sz="16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FC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≠ 234 → no son iguales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3 · RABIN–KARP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CGT (hash 234) en ACGACGT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CE3C6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CE3C6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CE3C6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0138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6501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55117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255117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20954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320954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86791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38679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" y="3886200"/>
            <a:ext cx="10570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G=3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1*100+2*10+3=123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</a:t>
            </a:r>
            <a:r>
              <a:rPr lang="en-US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</a:t>
            </a: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 =</a:t>
            </a: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2*100+3*10+4=234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3 · RABIN–KARP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CGT (hash 234) en ACGACGT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CE3C6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CE3C6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CE3C6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0138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6501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0954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320954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867912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38679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526280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45262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" y="3886200"/>
            <a:ext cx="10570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b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ACG=123 se </a:t>
            </a:r>
            <a:r>
              <a:rPr lang="en-US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</a:t>
            </a: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pone la </a:t>
            </a:r>
            <a:r>
              <a:rPr lang="en-US" dirty="0">
                <a:solidFill>
                  <a:srgbClr val="4A5568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CGA =231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2*100+3*10+1=231 de hash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</a:t>
            </a:r>
            <a:r>
              <a:rPr lang="en-US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</a:t>
            </a: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123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3 · RABIN–KARP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CGT (hash 234) en ACGACGT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55117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43016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1856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1488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255117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954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32095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67912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38679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526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84648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1846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43016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584301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01384" y="21488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6501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84648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518464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843016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584301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01384" y="2926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BD88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 txBox="1"/>
          <p:nvPr/>
        </p:nvSpPr>
        <p:spPr>
          <a:xfrm>
            <a:off x="650138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10768" y="3886200"/>
            <a:ext cx="10570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</a:t>
            </a:r>
            <a:r>
              <a:rPr lang="en-US" sz="1800" b="1" dirty="0">
                <a:solidFill>
                  <a:srgbClr val="2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= 234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Ahora sí se revisa letra por letra para confirmar: </a:t>
            </a:r>
            <a:r>
              <a:rPr lang="en-US" sz="1800" b="1" dirty="0">
                <a:solidFill>
                  <a:srgbClr val="2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G y T coinciden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¡Encontrado en la posición 4!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se compararon 3 letras.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 · HASH RODANTE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correr la ventana no se recalcula todo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103120"/>
            <a:ext cx="10570464" cy="1737360"/>
          </a:xfrm>
          <a:prstGeom prst="roundRect">
            <a:avLst>
              <a:gd name="adj" fmla="val 631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" y="2331720"/>
            <a:ext cx="10021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  </a:t>
            </a:r>
            <a:r>
              <a:rPr lang="en-US" sz="1600" dirty="0">
                <a:solidFill>
                  <a:srgbClr val="FF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G      → 123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    C G </a:t>
            </a:r>
            <a:r>
              <a:rPr lang="en-US" sz="1600" dirty="0">
                <a:solidFill>
                  <a:srgbClr val="7BD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(123 − </a:t>
            </a:r>
            <a:r>
              <a:rPr lang="en-US" sz="1600" dirty="0">
                <a:solidFill>
                  <a:srgbClr val="FF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·100) · 10 + </a:t>
            </a:r>
            <a:r>
              <a:rPr lang="en-US" sz="1600" dirty="0">
                <a:solidFill>
                  <a:srgbClr val="7BD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600" dirty="0">
                <a:solidFill>
                  <a:srgbClr val="F7F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FC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hash_nuevo = (base · (hash_viejo − sale · h) + entra) % primo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42062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la letra que sale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</a:t>
            </a: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la que entra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paso cuesta lo mismo, sin importar el largo del patrón.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42062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primo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mantiene el número pequeño, pero dos pedazos distintos pueden dar el mismo hash: una </a:t>
            </a: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colisión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Por eso se confirma letra por letra.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USAN?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vida diaria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057400"/>
            <a:ext cx="51937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" y="225856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F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715768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una palabra en un documento o una página web: el programa recorre el texto comparando letra por letra.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35387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patrones en texto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2057400"/>
            <a:ext cx="51937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6464808" y="225856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el chat o el correo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2715768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una palabra y aparecen los mensajes que la contienen.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35387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muchos textos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" y="4160520"/>
            <a:ext cx="51937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1088136" y="436168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contactos o canciones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" y="4818888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un pedazo del nombre y se busca ese pedazo dentro de cada nombre guardado.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564184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dentro de cadenas cortas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4160520"/>
            <a:ext cx="51937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6464808" y="436168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spam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4818888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correo busca frases típicas de spam dentro de cada mensaje que llega.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564184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patrones a la vez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USAN?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ciencia y la seguridad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057400"/>
            <a:ext cx="51937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" y="225856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 y bioinformática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715768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genes o secuencias dentro de un genoma de millones de letras, como en nuestro proyecto.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35387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secuencias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2057400"/>
            <a:ext cx="51937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6464808" y="225856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2715768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«firmas»: pedazos de código de virus conocidos escondidos dentro de los archivos.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35387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patrones a la vez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" y="4160520"/>
            <a:ext cx="51937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1088136" y="436168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plagio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" y="4818888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pedazos de dos textos usando huellas numéricas (hash).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564184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 Rabin–Karp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4160520"/>
            <a:ext cx="51937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6464808" y="436168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registros (logs)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4818888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un error dentro de millones de líneas que guarda un servidor.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564184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textos enormes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PATRÓN GTTTGTGA EN TODO EL ADN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6012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resultado, distinto trabajo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3816" y="2286000"/>
            <a:ext cx="3291840" cy="0"/>
          </a:xfrm>
          <a:prstGeom prst="line">
            <a:avLst/>
          </a:prstGeom>
          <a:noFill/>
          <a:ln w="254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813816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Ingenua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2926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7.319.438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25696" y="2286000"/>
            <a:ext cx="3291840" cy="0"/>
          </a:xfrm>
          <a:prstGeom prst="line">
            <a:avLst/>
          </a:prstGeom>
          <a:noFill/>
          <a:ln w="25400">
            <a:solidFill>
              <a:srgbClr val="BFC8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4425696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25696" y="2926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6.987.056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425696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37576" y="2286000"/>
            <a:ext cx="329184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8037576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37576" y="2926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73.928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037576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comparaciones, casi 100 veces menos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846320"/>
            <a:ext cx="10570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encuentran el patrón </a:t>
            </a:r>
            <a:r>
              <a:rPr lang="en-US" sz="16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veces</a:t>
            </a:r>
            <a:r>
              <a:rPr lang="en-US" sz="16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KMP gana poco a la ingenua porque en el ADN los patrones casi no se repiten consigo mismos.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737360"/>
            <a:ext cx="10570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31089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algoritmos encuentran </a:t>
            </a:r>
            <a:r>
              <a:rPr lang="en-US" sz="18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800" b="1" dirty="0" err="1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</a:t>
            </a:r>
            <a:r>
              <a:rPr lang="en-US" sz="18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453128" y="31089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</a:t>
            </a:r>
            <a:r>
              <a:rPr lang="en-US" sz="18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aprovecha la tabla de prefijos para no devolverse.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092440" y="31089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</a:t>
            </a:r>
            <a:r>
              <a:rPr lang="en-US" sz="18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 el más rápido en el ADN gracias al hash.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3436</Words>
  <Application>Microsoft Office PowerPoint</Application>
  <PresentationFormat>Panorámica</PresentationFormat>
  <Paragraphs>1326</Paragraphs>
  <Slides>40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Búsqueda de patrones en ADN</dc:title>
  <dc:subject>PptxGenJS Presentation</dc:subject>
  <dc:creator>Roland Ramírez Patiño</dc:creator>
  <cp:lastModifiedBy>roland ramirez patiño</cp:lastModifiedBy>
  <cp:revision>62</cp:revision>
  <dcterms:created xsi:type="dcterms:W3CDTF">2026-10-22T01:50:34Z</dcterms:created>
  <dcterms:modified xsi:type="dcterms:W3CDTF">2026-10-22T11:52:17Z</dcterms:modified>
</cp:coreProperties>
</file>