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6442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tema: buscar una secuencia corta de letras, el patrón, dentro del ADN humano, que tiene más de 5 millones de letras.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Definir el problema antes de los algoritmos. En nuestro caso el texto es el ADN de Kaggle guardado en una lista enlazada, y el patrón es una secuencia corta de bases A, C, G y 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forma más simple de buscar: es lo que haría una persona con el dedo. No necesita preparación ni memoria extra, pero cuando falla vuelve a empezar desde la siguiente 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Verde son las letras que coinciden y rojo la que falla. Ese es el problema que resuelven KMP y Rabin-Karp: no repetir trabajo que ya se hizo.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KMP lo publicaron Knuth, Morris y Pratt en 1977. La clave es que el texto nunca se devuelve: el puntero del texto solo avanza. Lo que se mueve es el patrón, gracias a la tabla.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tabla se calcula solo con el patrón, antes de buscar. Es la memoria de KMP: cuando falla en la posición j, mira tabla[j − 1] y sabe cuántas letras ya leídas siguen sirviendo.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TATTCC: la A no es T, 0. La T es igual a la primera T, 1. La siguiente T no es A, k vuelve a 0, pero es igual a la primera T, 1. Las C no coinciden con nada, 0 y 0. Construirla cuesta O(m).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fallar con la A, KMP no vuelve a la posición 1 del texto. La tabla dice 2: las últimas dos letras leídas, AB, ya son el comienzo del patrón. Entonces corre el patrón dos lugares y sigue comparando la misma A con la tercera letra del patrón. Complejidad: O(n + 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inventaron Karp y Rabin en 1987. Es como una huella: comparar dos números es una sola operación, mientras que comparar dos pedazos de texto son m operaciones. El programa usa base 256 (el código de cada letra) y saca el residuo entre 101 para que el número no crezca.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 = base^(m − 1) % primo es lo que vale la primera letra de la ventana, por eso se resta multiplicada por h. Promedio O(n + m); peor caso O(n · m) si hay muchas colisiones.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Rabin-Karp casi siempre resuelve con un solo número y solo revisa letras cuando el hash coincide. KMP nunca se devuelve en el texto, pero su ventaja crece cuando el patrón tiene partes repetidas.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KMP es lineal porque nunca se devuelve en el texto. Rabin-Karp es lineal en promedio, pero si muchos hash coinciden por casualidad tiene que revisar letras muchas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idea principal: todos encuentran lo mismo, la diferencia está en las comparaciones. Mencionar dónde se usa en la vida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737360"/>
            <a:ext cx="10570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3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T G C C T A T T C 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286000"/>
            <a:ext cx="105704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patrones</a:t>
            </a:r>
            <a:endParaRPr lang="en-US" sz="6000" dirty="0"/>
          </a:p>
          <a:p>
            <a:pPr marL="0" indent="0">
              <a:buNone/>
            </a:pPr>
            <a:r>
              <a:rPr lang="en-US" sz="60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ADN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4434840"/>
            <a:ext cx="1057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Ingenua, KMP y Rabin–Karp sobre listas enlazadas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exacta de un patrón en un texto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03120"/>
            <a:ext cx="10570464" cy="1554480"/>
          </a:xfrm>
          <a:prstGeom prst="roundRect">
            <a:avLst>
              <a:gd name="adj" fmla="val 705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331720"/>
            <a:ext cx="100218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posición: 0 1 2 3 4 5 6 7 8 9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texto:    A T </a:t>
            </a:r>
            <a:r>
              <a:rPr lang="en-US" sz="18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C C</a:t>
            </a:r>
            <a:r>
              <a:rPr lang="en-US" sz="18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T </a:t>
            </a:r>
            <a:r>
              <a:rPr lang="en-US" sz="18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C C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patrón:   G C C   → aparece en 2 y en 7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secuencia de caracteres en orden; cada uno tiene una posición desde 0.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453128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de largo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patrón de largo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hay que encontrar todas las posiciones donde </a:t>
            </a:r>
            <a:r>
              <a:rPr lang="en-US" sz="16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real: buscar una secuencia en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 millones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letras de ADN humano.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· BÚSQUEDA INGENUA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patrón en cada posición del texto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219456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 el patrón en la posición i del texto.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letra por letra: texto[i + j] con patrón[j].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todas coinciden, lo encontró. Si una falla, corre el patrón una posición: i = i + 1.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63640" y="21945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6537960" y="24231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i desde 0 hasta n − m: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 = 0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mientras j &lt; m y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texto[i + j] == patrón[j]: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j = j + 1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 j == m: encontrado en i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1 · BÚSQUEDA INGENUA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buscar ACGT en ACGACGT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03120"/>
            <a:ext cx="10570464" cy="2286000"/>
          </a:xfrm>
          <a:prstGeom prst="roundRect">
            <a:avLst>
              <a:gd name="adj" fmla="val 48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331720"/>
            <a:ext cx="10021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texto:  A C G A C G T</a:t>
            </a:r>
            <a:endParaRPr lang="en-US" sz="17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0:  </a:t>
            </a:r>
            <a:r>
              <a:rPr lang="en-US" sz="17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G</a:t>
            </a: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4 comparaciones</a:t>
            </a:r>
            <a:endParaRPr lang="en-US" sz="17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1:    </a:t>
            </a:r>
            <a:r>
              <a:rPr lang="en-US" sz="17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1 comparación</a:t>
            </a:r>
            <a:endParaRPr lang="en-US" sz="17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2:      </a:t>
            </a:r>
            <a:r>
              <a:rPr lang="en-US" sz="17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1 comparación</a:t>
            </a:r>
            <a:endParaRPr lang="en-US" sz="17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3:        </a:t>
            </a:r>
            <a:r>
              <a:rPr lang="en-US" sz="17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G T</a:t>
            </a:r>
            <a:r>
              <a:rPr lang="en-US" sz="17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4 → ¡encontrado!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47091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comparaciones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En i = 1 y 2 vuelve a mirar C y G, que ya había leído en i = 0.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47091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caso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· m)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 cada una de las n posiciones puede comparar hasta m letras.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2 · KNUTH–MORRIS–PRATT (KMP)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1371600"/>
            <a:ext cx="10570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ya leí una letra, no la vuelvo a leer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2834640"/>
            <a:ext cx="105704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ingenua olvida lo que ya comparó cada vez que falla. KMP primero estudia el patrón para saber </a:t>
            </a:r>
            <a:r>
              <a:rPr lang="en-US" sz="18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partes se repiten dentro de él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así, cuando falla, sabe cuánto de lo leído le sirve.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4480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1. 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tabla de prefijos con el patrón.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4480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2. 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Recorrer el texto una sola vez, usando la tabla cuando falla.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 (FUNCIÓN DE FRACASO)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guarda la tabla de prefijos?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1920240"/>
            <a:ext cx="10570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posición: </a:t>
            </a: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cuántas letras del comienzo del patrón se repiten justo al final</a:t>
            </a:r>
            <a:r>
              <a:rPr lang="en-US" sz="1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lo que va hasta ahí.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926080"/>
          <a:ext cx="10570464" cy="1508760"/>
        </p:xfrm>
        <a:graphic>
          <a:graphicData uri="http://schemas.openxmlformats.org/drawingml/2006/table">
            <a:tbl>
              <a:tblPr/>
              <a:tblGrid>
                <a:gridCol w="1700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posición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4A55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patrón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" y="484632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 8 →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ATATGATAT termina en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ATAT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igual a las 4 primeras. La G rompe la racha →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TABLA DE PREFIJOS (FUNCIÓN DE FRACASO)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construye comparando el patrón consigo mismo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94560"/>
            <a:ext cx="5486400" cy="2286000"/>
          </a:xfrm>
          <a:prstGeom prst="roundRect">
            <a:avLst>
              <a:gd name="adj" fmla="val 48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4231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tabla[0] = 0;  k = 0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i desde 1 hasta m − 1: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mientras k &gt; 0 y p[i] != p[k]: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tabla[k − 1]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 p[i] == p[k]: k = k + 1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tabla[i] = 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711696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la racha: cuántas letras van iguales al comienzo.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racha crece, k + 1.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Fallan: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se devuelve con la misma tabla, hasta coincidir o llegar a 0.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TATTCC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0 0 1 1 0 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 · LA BÚSQUEDA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buscar ABABC en ABABABC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94560"/>
            <a:ext cx="5486400" cy="2514600"/>
          </a:xfrm>
          <a:prstGeom prst="roundRect">
            <a:avLst>
              <a:gd name="adj" fmla="val 436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423160"/>
            <a:ext cx="4937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tabla:  0 0 1 2 0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texto:  A B A B </a:t>
            </a:r>
            <a:r>
              <a:rPr lang="en-US" sz="16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 C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patrón: </a:t>
            </a:r>
            <a:r>
              <a:rPr lang="en-US" sz="16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A B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falla: j = tabla[3] = 2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patrón:     </a:t>
            </a:r>
            <a:r>
              <a:rPr lang="en-US" sz="16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A B C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¡encontrado en la posición 2!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711696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j + 1.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Fallan: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tabla[j − 1]; el texto no retrocede.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m: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encontrado en i − m + 1.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KMP: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comparaciones. Ingenua: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3 · RABIN–KARP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cada pedazo de texto en un número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219456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el pedazo del texto del mismo largo que el patrón. A ella y al patrón se les calcula un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 número que los representa.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diferente: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 no es el patrón; se corre la ventana.</a:t>
            </a:r>
            <a:endParaRPr lang="en-US" sz="1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igual: 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probablemente sí; se confirma letra por letra.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5080" y="2194560"/>
            <a:ext cx="5029200" cy="219456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 txBox="1"/>
          <p:nvPr/>
        </p:nvSpPr>
        <p:spPr>
          <a:xfrm>
            <a:off x="6629400" y="242316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  C = 2  G = 3  T = 4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10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ACG = 1·100 + 2·10 + 3 = </a:t>
            </a: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CGT = </a:t>
            </a: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 ≠ 234 → no son iguales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RABIN–KARP · HASH RODANTE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correr la ventana no se recalcula todo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103120"/>
            <a:ext cx="10570464" cy="1737360"/>
          </a:xfrm>
          <a:prstGeom prst="roundRect">
            <a:avLst>
              <a:gd name="adj" fmla="val 631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1088136" y="2331720"/>
            <a:ext cx="100218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ventana  </a:t>
            </a:r>
            <a:r>
              <a:rPr lang="en-US" sz="16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G      → 123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ventana    C G </a:t>
            </a:r>
            <a:r>
              <a:rPr lang="en-US" sz="16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(123 − </a:t>
            </a:r>
            <a:r>
              <a:rPr lang="en-US" sz="1600" dirty="0">
                <a:solidFill>
                  <a:srgbClr val="FF7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·100) · 10 + </a:t>
            </a:r>
            <a:r>
              <a:rPr lang="en-US" sz="1600" dirty="0">
                <a:solidFill>
                  <a:srgbClr val="7BD8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600" dirty="0">
                <a:solidFill>
                  <a:srgbClr val="F7F6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2A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hash_nuevo = (base · (hash_viejo − sale · h) + entra) % primo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42062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 la letra que sale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se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la que entra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cada paso cuesta lo mismo, sin importar el largo del patrón.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42062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primo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mantiene el número pequeño, pero dos pedazos distintos pueden dar el mismo hash: una </a:t>
            </a: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colisión</a:t>
            </a: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Por eso se confirma letra por letra.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PATRÓN GTTTGTGA EN TODO EL ADN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resultado, distinto trabajo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3816" y="2286000"/>
            <a:ext cx="3291840" cy="0"/>
          </a:xfrm>
          <a:prstGeom prst="line">
            <a:avLst/>
          </a:prstGeom>
          <a:noFill/>
          <a:ln w="254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 txBox="1"/>
          <p:nvPr/>
        </p:nvSpPr>
        <p:spPr>
          <a:xfrm>
            <a:off x="813816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Ingenua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926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7.319.438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25696" y="2286000"/>
            <a:ext cx="3291840" cy="0"/>
          </a:xfrm>
          <a:prstGeom prst="line">
            <a:avLst/>
          </a:prstGeom>
          <a:noFill/>
          <a:ln w="25400">
            <a:solidFill>
              <a:srgbClr val="BFC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 txBox="1"/>
          <p:nvPr/>
        </p:nvSpPr>
        <p:spPr>
          <a:xfrm>
            <a:off x="4425696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25696" y="2926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6.987.056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425696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37576" y="2286000"/>
            <a:ext cx="3291840" cy="0"/>
          </a:xfrm>
          <a:prstGeom prst="line">
            <a:avLst/>
          </a:prstGeom>
          <a:noFill/>
          <a:ln w="25400">
            <a:solidFill>
              <a:srgbClr val="F2A65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 txBox="1"/>
          <p:nvPr/>
        </p:nvSpPr>
        <p:spPr>
          <a:xfrm>
            <a:off x="8037576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Rabin–Karp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37576" y="29260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73.928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037576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comparaciones, casi 100 veces menos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4846320"/>
            <a:ext cx="10570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encuentran el patrón </a:t>
            </a:r>
            <a:r>
              <a:rPr lang="en-US" sz="16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veces</a:t>
            </a:r>
            <a:r>
              <a:rPr lang="en-US" sz="16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KMP gana poco a la ingenua porque en el ADN los patrones casi no se repiten consigo mismos.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5486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26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60120"/>
            <a:ext cx="10570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y espacio de cada algoritmo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03120"/>
          <a:ext cx="10570464" cy="2514600"/>
        </p:xfrm>
        <a:graphic>
          <a:graphicData uri="http://schemas.openxmlformats.org/drawingml/2006/table">
            <a:tbl>
              <a:tblPr/>
              <a:tblGrid>
                <a:gridCol w="29626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4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Espacio extra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Ingenua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m) peor caso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O(m), la tabla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Rabin–Karp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 promedio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m) peor caso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493776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largo del ADN · m = largo del patrón. Con la tabla en lista doble, llegar a una posición cuesta hasta m/2 pasos.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73736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31089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algoritmos encuentran </a:t>
            </a:r>
            <a:r>
              <a:rPr lang="en-US" sz="18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cambia cuánto trabajan.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453128" y="31089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7F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KMP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aprovecha la tabla de prefijos para no devolverse.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092440" y="31089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Rabin–Karp</a:t>
            </a:r>
            <a:r>
              <a:rPr lang="en-US" sz="1800" dirty="0">
                <a:solidFill>
                  <a:srgbClr val="BFC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fue el más rápido en el ADN gracias al hash.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1718</Words>
  <Application>Microsoft Office PowerPoint</Application>
  <PresentationFormat>Panorámica</PresentationFormat>
  <Paragraphs>173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Búsqueda de patrones en ADN</dc:title>
  <dc:subject>PptxGenJS Presentation</dc:subject>
  <dc:creator>Roland Ramírez Patiño</dc:creator>
  <cp:lastModifiedBy>roland ramirez patiño</cp:lastModifiedBy>
  <cp:revision>2</cp:revision>
  <dcterms:created xsi:type="dcterms:W3CDTF">2026-10-20T09:59:57Z</dcterms:created>
  <dcterms:modified xsi:type="dcterms:W3CDTF">2026-10-20T10:02:47Z</dcterms:modified>
</cp:coreProperties>
</file>